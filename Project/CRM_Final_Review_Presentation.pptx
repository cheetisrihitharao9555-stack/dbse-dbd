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 snapToObjects="1">
      <p:cViewPr varScale="1">
        <p:scale>
          <a:sx n="111" d="100"/>
          <a:sy n="111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252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EEFA"/>
                </a:solidFill>
              </a:defRPr>
            </a:pPr>
            <a:r>
              <a:rPr sz="1000">
                <a:solidFill>
                  <a:srgbClr val="FFFFFF"/>
                </a:solidFill>
              </a:rPr>
              <a:t>FINAL REVIEW</a:t>
            </a:r>
          </a:p>
          <a:p>
            <a:pPr>
              <a:spcBef>
                <a:spcPts val="1000"/>
              </a:spcBef>
            </a:pPr>
            <a:r>
              <a:rPr sz="2500">
                <a:solidFill>
                  <a:srgbClr val="FFFFFF"/>
                </a:solidFill>
              </a:rPr>
              <a:t>CRM – CUSTOMER RELATIONSHIP MANAGEMENT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80359"/>
            <a:ext cx="5120640" cy="1508761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l">
              <a:defRPr sz="2100" b="1">
                <a:solidFill>
                  <a:srgbClr val="14263F"/>
                </a:solidFill>
              </a:defRPr>
            </a:pPr>
            <a:r>
              <a:rPr dirty="0">
                <a:solidFill>
                  <a:srgbClr val="FFFFFF"/>
                </a:solidFill>
              </a:rPr>
              <a:t>Team </a:t>
            </a:r>
            <a:r>
              <a:rPr lang="en-IN" dirty="0">
                <a:solidFill>
                  <a:srgbClr val="FFFFFF"/>
                </a:solidFill>
              </a:rPr>
              <a:t>15</a:t>
            </a:r>
            <a:endParaRPr dirty="0">
              <a:solidFill>
                <a:srgbClr val="FFFFFF"/>
              </a:solidFill>
            </a:endParaRPr>
          </a:p>
          <a:p>
            <a:pPr algn="l">
              <a:spcBef>
                <a:spcPts val="600"/>
              </a:spcBef>
            </a:pPr>
            <a:r>
              <a:rPr dirty="0">
                <a:solidFill>
                  <a:srgbClr val="FFFFFF"/>
                </a:solidFill>
              </a:rPr>
              <a:t>Sec </a:t>
            </a:r>
            <a:r>
              <a:rPr lang="en-IN" dirty="0">
                <a:solidFill>
                  <a:srgbClr val="FFFFFF"/>
                </a:solidFill>
              </a:rPr>
              <a:t>7</a:t>
            </a:r>
          </a:p>
          <a:p>
            <a:pPr algn="l">
              <a:spcBef>
                <a:spcPts val="600"/>
              </a:spcBef>
            </a:pPr>
            <a:r>
              <a:rPr dirty="0">
                <a:solidFill>
                  <a:srgbClr val="FFFFFF"/>
                </a:solidFill>
              </a:rPr>
              <a:t>Database Systems Engineering &amp; Distributed Backend Development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880360"/>
            <a:ext cx="4800600" cy="149961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l">
              <a:defRPr sz="1900" b="1">
                <a:solidFill>
                  <a:srgbClr val="14263F"/>
                </a:solidFill>
              </a:defRPr>
            </a:pPr>
            <a:r>
              <a:rPr dirty="0">
                <a:solidFill>
                  <a:srgbClr val="FFFFFF"/>
                </a:solidFill>
              </a:rPr>
              <a:t>Team Members</a:t>
            </a:r>
          </a:p>
          <a:p>
            <a:pPr algn="l">
              <a:spcBef>
                <a:spcPts val="600"/>
              </a:spcBef>
            </a:pPr>
            <a:r>
              <a:rPr lang="en-IN" dirty="0">
                <a:solidFill>
                  <a:srgbClr val="FFFFFF"/>
                </a:solidFill>
              </a:rPr>
              <a:t>2520030400-CH.Srihitha</a:t>
            </a:r>
          </a:p>
          <a:p>
            <a:pPr algn="l">
              <a:spcBef>
                <a:spcPts val="600"/>
              </a:spcBef>
            </a:pPr>
            <a:r>
              <a:rPr lang="en-IN" dirty="0">
                <a:solidFill>
                  <a:srgbClr val="FFFFFF"/>
                </a:solidFill>
              </a:rPr>
              <a:t>2520030153-K.Srihitha</a:t>
            </a:r>
          </a:p>
          <a:p>
            <a:pPr algn="l">
              <a:spcBef>
                <a:spcPts val="600"/>
              </a:spcBef>
            </a:pPr>
            <a:r>
              <a:rPr lang="en-IN" dirty="0">
                <a:solidFill>
                  <a:srgbClr val="FFFFFF"/>
                </a:solidFill>
              </a:rPr>
              <a:t>2520030388-B.Pemesh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4800600"/>
            <a:ext cx="6889258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dirty="0">
                <a:solidFill>
                  <a:srgbClr val="FFFFFF"/>
                </a:solidFill>
              </a:rPr>
              <a:t>Under the guidance of </a:t>
            </a:r>
            <a:r>
              <a:rPr lang="en-IN" dirty="0" err="1">
                <a:solidFill>
                  <a:srgbClr val="FFFFFF"/>
                </a:solidFill>
              </a:rPr>
              <a:t>Dr.S.Spandana</a:t>
            </a:r>
            <a:endParaRPr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Assistant Professor • Department of Computer Science and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rPr>
                <a:solidFill>
                  <a:srgbClr val="646E7D"/>
                </a:solidFill>
              </a:rPr>
              <a:t>CRM – Customer Relationship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FINAL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868680"/>
            <a:ext cx="1554480" cy="347472"/>
          </a:xfrm>
          <a:prstGeom prst="roundRect">
            <a:avLst/>
          </a:prstGeom>
          <a:solidFill>
            <a:srgbClr val="2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solidFill>
                  <a:srgbClr val="192330"/>
                </a:solidFill>
              </a:rPr>
              <a:t>PROJECT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82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• Provide a web-based CRM for managing customer information in one place.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192330"/>
                </a:solidFill>
              </a:rPr>
              <a:t>• Allow users to register, securely log in and access their own CRM records.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192330"/>
                </a:solidFill>
              </a:rPr>
              <a:t>• Support customer creation, viewing, updating and deletion through REST APIs.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192330"/>
                </a:solidFill>
              </a:rPr>
              <a:t>• Maintain user-specific data so one account cannot access another account's customers.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192330"/>
                </a:solidFill>
              </a:rPr>
              <a:t>• Track successful login activity through a dedicated login history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051560"/>
            <a:ext cx="4160520" cy="1143000"/>
          </a:xfrm>
          <a:prstGeom prst="roundRect">
            <a:avLst/>
          </a:prstGeom>
          <a:solidFill>
            <a:srgbClr val="FAE4E4"/>
          </a:solidFill>
          <a:ln w="15240">
            <a:solidFill>
              <a:srgbClr val="B9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7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Core Problem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Customer information can be scattered across files or tools, making secure and organized management difficult.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423160"/>
            <a:ext cx="4160520" cy="1143000"/>
          </a:xfrm>
          <a:prstGeom prst="roundRect">
            <a:avLst/>
          </a:prstGeom>
          <a:solidFill>
            <a:srgbClr val="E1F3E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7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Core Backend Solution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Spring Boot REST APIs + Spring Security + JWT + MySQL.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749040"/>
            <a:ext cx="4160520" cy="1143000"/>
          </a:xfrm>
          <a:prstGeom prst="roundRect">
            <a:avLst/>
          </a:prstGeom>
          <a:solidFill>
            <a:srgbClr val="E1EEFA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7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Data Isolation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Authenticated requests are scoped to the logged-in user, keeping customer records account-specific.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5303520" cy="4389120"/>
          </a:xfrm>
          <a:prstGeom prst="roundRect">
            <a:avLst/>
          </a:prstGeom>
          <a:solidFill>
            <a:srgbClr val="FAE4E4"/>
          </a:solidFill>
          <a:ln w="15240">
            <a:solidFill>
              <a:srgbClr val="B9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bIns="146304" rtlCol="0" anchor="t"/>
          <a:lstStyle/>
          <a:p>
            <a:pPr algn="l">
              <a:defRPr sz="21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Without a Centralized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225" y="1781139"/>
            <a:ext cx="4754880" cy="2320635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dirty="0">
                <a:solidFill>
                  <a:srgbClr val="192330"/>
                </a:solidFill>
              </a:rPr>
              <a:t>• Manual updates can create inconsistent or outdated records.</a:t>
            </a:r>
          </a:p>
          <a:p>
            <a:pPr algn="l">
              <a:spcAft>
                <a:spcPts val="800"/>
              </a:spcAft>
            </a:pPr>
            <a:r>
              <a:rPr dirty="0">
                <a:solidFill>
                  <a:srgbClr val="192330"/>
                </a:solidFill>
              </a:rPr>
              <a:t>• Different users should not be able to view another user's customers.</a:t>
            </a:r>
          </a:p>
          <a:p>
            <a:pPr algn="l">
              <a:spcAft>
                <a:spcPts val="800"/>
              </a:spcAft>
            </a:pPr>
            <a:r>
              <a:rPr dirty="0">
                <a:solidFill>
                  <a:srgbClr val="192330"/>
                </a:solidFill>
              </a:rPr>
              <a:t>• Login activity may not be available for review.</a:t>
            </a:r>
          </a:p>
          <a:p>
            <a:pPr algn="l">
              <a:spcAft>
                <a:spcPts val="800"/>
              </a:spcAft>
            </a:pPr>
            <a:r>
              <a:rPr dirty="0">
                <a:solidFill>
                  <a:srgbClr val="192330"/>
                </a:solidFill>
              </a:rPr>
              <a:t>• Frontend and database operations need a secure backend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914400"/>
            <a:ext cx="5303520" cy="4389120"/>
          </a:xfrm>
          <a:prstGeom prst="roundRect">
            <a:avLst/>
          </a:prstGeom>
          <a:solidFill>
            <a:srgbClr val="E1F3E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201168" bIns="146304" rtlCol="0" anchor="t"/>
          <a:lstStyle/>
          <a:p>
            <a:pPr algn="l">
              <a:defRPr sz="21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Our Secure CRM </a:t>
            </a:r>
            <a:r>
              <a:rPr dirty="0" err="1">
                <a:solidFill>
                  <a:srgbClr val="192330"/>
                </a:solidFill>
              </a:rPr>
              <a:t>Approac</a:t>
            </a:r>
            <a:r>
              <a:rPr lang="en-IN" dirty="0">
                <a:solidFill>
                  <a:srgbClr val="192330"/>
                </a:solidFill>
              </a:rPr>
              <a:t>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79484"/>
            <a:ext cx="4754880" cy="325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192330"/>
                </a:solidFill>
              </a:rPr>
              <a:t> </a:t>
            </a:r>
            <a:r>
              <a:rPr lang="en-US" dirty="0">
                <a:solidFill>
                  <a:srgbClr val="192330"/>
                </a:solidFill>
              </a:rPr>
              <a:t>The application connects a React frontend to authenticated Spring Boot APIs backed by MySQL.</a:t>
            </a:r>
            <a:endParaRPr lang="en-IN" dirty="0">
              <a:solidFill>
                <a:srgbClr val="192330"/>
              </a:solidFill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192330"/>
                </a:solidFill>
              </a:rPr>
              <a:t>Validate the authenticated user on protected requests.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192330"/>
                </a:solidFill>
              </a:rPr>
              <a:t> Perform customer CRUD operations through REST APIs.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192330"/>
                </a:solidFill>
              </a:rPr>
              <a:t> Store customers with a </a:t>
            </a:r>
            <a:r>
              <a:rPr dirty="0" err="1">
                <a:solidFill>
                  <a:srgbClr val="192330"/>
                </a:solidFill>
              </a:rPr>
              <a:t>user_id</a:t>
            </a:r>
            <a:r>
              <a:rPr dirty="0">
                <a:solidFill>
                  <a:srgbClr val="192330"/>
                </a:solidFill>
              </a:rPr>
              <a:t> relationship.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192330"/>
                </a:solidFill>
              </a:rPr>
              <a:t>Record successful login activity in </a:t>
            </a:r>
            <a:r>
              <a:rPr dirty="0" err="1">
                <a:solidFill>
                  <a:srgbClr val="192330"/>
                </a:solidFill>
              </a:rPr>
              <a:t>login_history</a:t>
            </a:r>
            <a:r>
              <a:rPr dirty="0">
                <a:solidFill>
                  <a:srgbClr val="192330"/>
                </a:solidFill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Existing System vs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9264"/>
            <a:ext cx="5394960" cy="475488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5C6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Existing / Basic Approach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• Customer data may be maintained in spreadsheets or separate tools.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• Access control may be limited or manual.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• Customer updates may require repeated manual work.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• Login activity is not always maintained.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• Data ownership can be difficult to enforce.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394960" cy="4754880"/>
          </a:xfrm>
          <a:prstGeom prst="roundRect">
            <a:avLst/>
          </a:prstGeom>
          <a:solidFill>
            <a:srgbClr val="E1EEFA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Proposed CRM Project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React + TypeScript + Vite frontend.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Spring Boot REST backend with Spring Security and JWT.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MySQL with JPA/Hibernate for persistent storage.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Customer CRUD with authenticated user-level isolation.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Login history and protected routes.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Postman-based API testing and 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5212080" cy="749808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01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Develop a professional web-based CRM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40" y="1920240"/>
            <a:ext cx="5273040" cy="850392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02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Provide secure user registration and JWT-based login.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80360"/>
            <a:ext cx="5212080" cy="749808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03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Manage customer records using CRUD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40" y="3840480"/>
            <a:ext cx="5273040" cy="804672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04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Keep customer data isolated for each authenticated user.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" y="4800600"/>
            <a:ext cx="5273040" cy="850392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05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Provide a dashboard with real customer statistics and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960120"/>
            <a:ext cx="5212080" cy="749808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06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Maintain login history for successful user activity.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20240"/>
            <a:ext cx="5212080" cy="859536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07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Protect application routes and backend APIs from unauthenticated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880360"/>
            <a:ext cx="5212080" cy="786384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08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Connect React frontend, Spring Boot REST APIs and MySQL.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840480"/>
            <a:ext cx="5212080" cy="850392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3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09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Test authentication, CRUD, account isolation and end-to-end workflows.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9821" y="1207007"/>
            <a:ext cx="2416259" cy="2285999"/>
          </a:xfrm>
          <a:prstGeom prst="roundRect">
            <a:avLst/>
          </a:prstGeom>
          <a:solidFill>
            <a:srgbClr val="E1EEFA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0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Frontend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React + TypeScript + Vite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Login / Register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Dashboard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Customer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61050" y="1281714"/>
            <a:ext cx="2416259" cy="2249415"/>
          </a:xfrm>
          <a:prstGeom prst="roundRect">
            <a:avLst/>
          </a:prstGeom>
          <a:solidFill>
            <a:srgbClr val="E1F3E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0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Backend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Spring Boot 3.5.6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REST APIs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Spring Security + JWT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JPA / Hibernate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417320"/>
            <a:ext cx="2331720" cy="1828800"/>
          </a:xfrm>
          <a:prstGeom prst="roundRect">
            <a:avLst/>
          </a:prstGeom>
          <a:solidFill>
            <a:srgbClr val="FAEDDA"/>
          </a:solidFill>
          <a:ln w="15240">
            <a:solidFill>
              <a:srgbClr val="DA8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000" b="1">
                <a:solidFill>
                  <a:srgbClr val="14263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Database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MySQL 8.0+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users</a:t>
            </a:r>
          </a:p>
          <a:p>
            <a:pPr>
              <a:spcBef>
                <a:spcPts val="600"/>
              </a:spcBef>
            </a:pPr>
            <a:r>
              <a:rPr dirty="0">
                <a:solidFill>
                  <a:srgbClr val="192330"/>
                </a:solidFill>
              </a:rPr>
              <a:t>customers</a:t>
            </a:r>
          </a:p>
          <a:p>
            <a:pPr>
              <a:spcBef>
                <a:spcPts val="600"/>
              </a:spcBef>
            </a:pPr>
            <a:r>
              <a:rPr dirty="0" err="1">
                <a:solidFill>
                  <a:srgbClr val="192330"/>
                </a:solidFill>
              </a:rPr>
              <a:t>login_history</a:t>
            </a:r>
            <a:endParaRPr dirty="0">
              <a:solidFill>
                <a:srgbClr val="19233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646920" y="1281714"/>
            <a:ext cx="2416259" cy="2148844"/>
          </a:xfrm>
          <a:prstGeom prst="roundRect">
            <a:avLst/>
          </a:prstGeom>
          <a:solidFill>
            <a:srgbClr val="E1EEFA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9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Security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JWT authentication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Protected routes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User-level data isolation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CORS configuration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331720"/>
            <a:ext cx="777240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35040" y="2331720"/>
            <a:ext cx="777240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2331720"/>
            <a:ext cx="502920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20240" y="3977639"/>
            <a:ext cx="8229600" cy="1417320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14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8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Request Flow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User action → React UI → JWT-authenticated REST API → Spring service/repository → MySQL → JSON response → UI update.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Major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User Authentication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Registration, login, JWT token handling and protected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91440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Dashboard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Displays authenticated user information and customer statistics.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DA8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Customer Management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Create, view, edit and delete customer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Account Isolation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Customer queries are restricted to the logged-in user's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B9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Login History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Records successful login activity with date and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38328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REST API Layer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Provides authenticated endpoints for frontend-backend communication.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Database Layer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Persists users, customers and login history using MySQL.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617720"/>
            <a:ext cx="5212080" cy="96012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DA8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6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Testing &amp; Validation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Postman and end-to-end testing verify the main workflows.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Authentication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CORE SECURITY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00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A5C96"/>
                </a:solidFill>
              </a:defRPr>
            </a:pPr>
            <a:r>
              <a:rPr>
                <a:solidFill>
                  <a:srgbClr val="192330"/>
                </a:solidFill>
              </a:rPr>
              <a:t>1</a:t>
            </a:r>
          </a:p>
          <a:p>
            <a:pPr algn="ctr"/>
            <a:r>
              <a:rPr>
                <a:solidFill>
                  <a:srgbClr val="192330"/>
                </a:solidFill>
              </a:rPr>
              <a:t>REGISTER / LOGIN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560320"/>
            <a:ext cx="338328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41448" y="1828800"/>
            <a:ext cx="1600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48278"/>
                </a:solidFill>
              </a:defRPr>
            </a:pPr>
            <a:r>
              <a:rPr>
                <a:solidFill>
                  <a:srgbClr val="192330"/>
                </a:solidFill>
              </a:rPr>
              <a:t>2</a:t>
            </a:r>
          </a:p>
          <a:p>
            <a:pPr algn="ctr"/>
            <a:r>
              <a:rPr>
                <a:solidFill>
                  <a:srgbClr val="192330"/>
                </a:solidFill>
              </a:rPr>
              <a:t>JWT TOKEN ISSUED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41648" y="2560320"/>
            <a:ext cx="338328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79976" y="1828800"/>
            <a:ext cx="1600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DA8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DA842B"/>
                </a:solidFill>
              </a:defRPr>
            </a:pPr>
            <a:r>
              <a:rPr>
                <a:solidFill>
                  <a:srgbClr val="192330"/>
                </a:solidFill>
              </a:rPr>
              <a:t>3</a:t>
            </a:r>
          </a:p>
          <a:p>
            <a:pPr algn="ctr"/>
            <a:r>
              <a:rPr>
                <a:solidFill>
                  <a:srgbClr val="192330"/>
                </a:solidFill>
              </a:rPr>
              <a:t>TOKEN SENT WITH API REQUEST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0176" y="2560320"/>
            <a:ext cx="338328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18504" y="1828800"/>
            <a:ext cx="1600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08255"/>
                </a:solidFill>
              </a:defRPr>
            </a:pPr>
            <a:r>
              <a:rPr>
                <a:solidFill>
                  <a:srgbClr val="192330"/>
                </a:solidFill>
              </a:rPr>
              <a:t>4</a:t>
            </a:r>
          </a:p>
          <a:p>
            <a:pPr algn="ctr"/>
            <a:r>
              <a:rPr>
                <a:solidFill>
                  <a:srgbClr val="192330"/>
                </a:solidFill>
              </a:rPr>
              <a:t>BACKEND AUTHENTICATES USER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18704" y="2560320"/>
            <a:ext cx="338328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57032" y="1828800"/>
            <a:ext cx="1600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A5C96"/>
                </a:solidFill>
              </a:defRPr>
            </a:pPr>
            <a:r>
              <a:rPr>
                <a:solidFill>
                  <a:srgbClr val="192330"/>
                </a:solidFill>
              </a:rPr>
              <a:t>5</a:t>
            </a:r>
          </a:p>
          <a:p>
            <a:pPr algn="ctr"/>
            <a:r>
              <a:rPr>
                <a:solidFill>
                  <a:srgbClr val="192330"/>
                </a:solidFill>
              </a:rPr>
              <a:t>USER-SCOPED DATA QUERY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57232" y="2560320"/>
            <a:ext cx="338328" cy="0"/>
          </a:xfrm>
          <a:prstGeom prst="line">
            <a:avLst/>
          </a:prstGeom>
          <a:ln w="25400">
            <a:solidFill>
              <a:srgbClr val="5C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95560" y="1828800"/>
            <a:ext cx="1600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24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48278"/>
                </a:solidFill>
              </a:defRPr>
            </a:pPr>
            <a:r>
              <a:rPr>
                <a:solidFill>
                  <a:srgbClr val="192330"/>
                </a:solidFill>
              </a:rPr>
              <a:t>6</a:t>
            </a:r>
          </a:p>
          <a:p>
            <a:pPr algn="ctr"/>
            <a:r>
              <a:rPr>
                <a:solidFill>
                  <a:srgbClr val="192330"/>
                </a:solidFill>
              </a:rPr>
              <a:t>RESPONSE RETURNED TO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77639"/>
            <a:ext cx="10241280" cy="1188720"/>
          </a:xfrm>
          <a:prstGeom prst="roundRect">
            <a:avLst/>
          </a:prstGeom>
          <a:solidFill>
            <a:srgbClr val="E1F3E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18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Why JWT matters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Protected API requests carry the authenticated user's identity. Customer operations use that identity instead of trusting a browser-supplied user_id.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Dashboard &amp; Customer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257800" cy="4389120"/>
          </a:xfrm>
          <a:prstGeom prst="roundRect">
            <a:avLst/>
          </a:prstGeom>
          <a:solidFill>
            <a:srgbClr val="E1EEFA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0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Dashboard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The dashboard loads the authenticated user through /api/auth/me and retrieves customer data from /api/customers.</a:t>
            </a:r>
          </a:p>
          <a:p>
            <a:pPr>
              <a:spcBef>
                <a:spcPts val="600"/>
              </a:spcBef>
            </a:pPr>
            <a:endParaRPr>
              <a:solidFill>
                <a:srgbClr val="192330"/>
              </a:solidFill>
            </a:endParaRP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Displayed information includes: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Total customers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Active customers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Account/user information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Recent customer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914400"/>
            <a:ext cx="5257800" cy="4389120"/>
          </a:xfrm>
          <a:prstGeom prst="roundRect">
            <a:avLst/>
          </a:prstGeom>
          <a:solidFill>
            <a:srgbClr val="E1F3E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0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Customer CRUD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POST /api/customers — create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GET /api/customers — list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GET /api/customers/{id} — view one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PUT /api/customers/{id} — update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DELETE /api/customers/{id} — delete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All operations are authenticated and user-scoped.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Current Implementation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FINAL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257800" cy="4526280"/>
          </a:xfrm>
          <a:prstGeom prst="roundRect">
            <a:avLst/>
          </a:prstGeom>
          <a:solidFill>
            <a:srgbClr val="E1F3E8"/>
          </a:solidFill>
          <a:ln w="15240">
            <a:solidFill>
              <a:srgbClr val="30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Implemented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React + TypeScript + Vite frontend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Spring Boot 3.5.6 REST backend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MySQL database with users, customers and login_history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JWT authentication and protected routes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Dashboard connected to real backend data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Customer CRUD operations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User-specific account isolation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Login history module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✓ Postman API and end-to-end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914400"/>
            <a:ext cx="5257800" cy="4526280"/>
          </a:xfrm>
          <a:prstGeom prst="roundRect">
            <a:avLst/>
          </a:prstGeom>
          <a:solidFill>
            <a:srgbClr val="FAEDDA"/>
          </a:solidFill>
          <a:ln w="15240">
            <a:solidFill>
              <a:srgbClr val="DA8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Future / Remaining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Leads management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Accounts / organizations module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Sales / deals pipeline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Interactions and follow-ups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Reports and analytics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Advanced role-based permissions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Production deployment and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rPr>
                <a:solidFill>
                  <a:srgbClr val="192330"/>
                </a:solidFill>
              </a:rPr>
              <a:t>Future / Remaining</a:t>
            </a:r>
          </a:p>
          <a:p>
            <a:r>
              <a:rPr>
                <a:solidFill>
                  <a:srgbClr val="192330"/>
                </a:solidFill>
              </a:rPr>
              <a:t>• Leads and accounts</a:t>
            </a:r>
          </a:p>
          <a:p>
            <a:r>
              <a:rPr>
                <a:solidFill>
                  <a:srgbClr val="192330"/>
                </a:solidFill>
              </a:rPr>
              <a:t>• Sales / deals pipeline</a:t>
            </a:r>
          </a:p>
          <a:p>
            <a:r>
              <a:rPr>
                <a:solidFill>
                  <a:srgbClr val="192330"/>
                </a:solidFill>
              </a:rPr>
              <a:t>• Interactions and follow-ups</a:t>
            </a:r>
          </a:p>
          <a:p>
            <a:r>
              <a:rPr>
                <a:solidFill>
                  <a:srgbClr val="192330"/>
                </a:solidFill>
              </a:rPr>
              <a:t>• Reports and analytics</a:t>
            </a:r>
          </a:p>
          <a:p>
            <a:r>
              <a:rPr>
                <a:solidFill>
                  <a:srgbClr val="192330"/>
                </a:solidFill>
              </a:rPr>
              <a:t>• Advanced role permissions</a:t>
            </a:r>
          </a:p>
          <a:p>
            <a:r>
              <a:rPr>
                <a:solidFill>
                  <a:srgbClr val="192330"/>
                </a:solidFill>
              </a:rPr>
              <a:t>• Production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4630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1EEFA"/>
                </a:solidFill>
              </a:defRPr>
            </a:pPr>
            <a:r>
              <a:t>FINAL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868680"/>
            <a:ext cx="1554480" cy="347472"/>
          </a:xfrm>
          <a:prstGeom prst="roundRect">
            <a:avLst/>
          </a:prstGeom>
          <a:solidFill>
            <a:srgbClr val="2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solidFill>
                  <a:srgbClr val="192330"/>
                </a:solidFill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82F"/>
                </a:solidFill>
              </a:defRPr>
            </a:pPr>
            <a:r>
              <a:rPr>
                <a:solidFill>
                  <a:srgbClr val="192330"/>
                </a:solidFill>
              </a:rPr>
              <a:t>• The project provides a functional full-stack CRM workflow for authenticated users.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192330"/>
                </a:solidFill>
              </a:rPr>
              <a:t>• React and TypeScript provide the user interface while Spring Boot exposes secure REST APIs.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192330"/>
                </a:solidFill>
              </a:rPr>
              <a:t>• MySQL stores persistent user, customer and login activity data.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192330"/>
                </a:solidFill>
              </a:rPr>
              <a:t>• JWT authentication and user-scoped queries protect customer records.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192330"/>
                </a:solidFill>
              </a:rPr>
              <a:t>• Customer CRUD and login history were tested successfully.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192330"/>
                </a:solidFill>
              </a:rPr>
              <a:t>• The system demonstrates practical database, API and authentication concepts.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065276"/>
            <a:ext cx="3794760" cy="4343400"/>
          </a:xfrm>
          <a:prstGeom prst="roundRect">
            <a:avLst/>
          </a:prstGeom>
          <a:solidFill>
            <a:srgbClr val="E1EEFA"/>
          </a:solidFill>
          <a:ln w="15240">
            <a:solidFill>
              <a:srgbClr val="2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Ins="109728" rtlCol="0" anchor="ctr"/>
          <a:lstStyle/>
          <a:p>
            <a:pPr algn="ctr">
              <a:defRPr sz="2100" b="1">
                <a:solidFill>
                  <a:srgbClr val="14263F"/>
                </a:solidFill>
              </a:defRPr>
            </a:pPr>
            <a:r>
              <a:rPr>
                <a:solidFill>
                  <a:srgbClr val="192330"/>
                </a:solidFill>
              </a:rPr>
              <a:t>• Leads, accounts and sales pipeline modules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Interaction and follow-up management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Reports and analytics dashboards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Advanced role-based access control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Email/notification integration</a:t>
            </a:r>
          </a:p>
          <a:p>
            <a:pPr>
              <a:spcBef>
                <a:spcPts val="600"/>
              </a:spcBef>
            </a:pPr>
            <a:r>
              <a:rPr>
                <a:solidFill>
                  <a:srgbClr val="192330"/>
                </a:solidFill>
              </a:rPr>
              <a:t>• Cloud deployment, monitoring and backups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CRM – Customer Relationship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60520" y="2560319"/>
            <a:ext cx="3011594" cy="738664"/>
          </a:xfrm>
          <a:prstGeom prst="rect">
            <a:avLst/>
          </a:prstGeom>
          <a:solidFill>
            <a:srgbClr val="E4F4F0"/>
          </a:solidFill>
          <a:ln>
            <a:solidFill>
              <a:srgbClr val="248278"/>
            </a:solidFill>
          </a:ln>
        </p:spPr>
        <p:txBody>
          <a:bodyPr wrap="none" lIns="164592" rIns="164592" anchor="ctr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dirty="0">
                <a:solidFill>
                  <a:srgbClr val="192330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92824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rPr>
                <a:solidFill>
                  <a:srgbClr val="646E7D"/>
                </a:solidFill>
              </a:rPr>
              <a:t>CRM – Customer Relationship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74536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67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1132</Words>
  <Application>Microsoft Office PowerPoint</Application>
  <PresentationFormat>Widescreen</PresentationFormat>
  <Paragraphs>214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cheetisrihitharao.9555@gmail.com</cp:lastModifiedBy>
  <cp:revision>5</cp:revision>
  <dcterms:created xsi:type="dcterms:W3CDTF">2013-01-27T09:14:16Z</dcterms:created>
  <dcterms:modified xsi:type="dcterms:W3CDTF">2026-10-03T08:35:21Z</dcterms:modified>
  <cp:category/>
</cp:coreProperties>
</file>